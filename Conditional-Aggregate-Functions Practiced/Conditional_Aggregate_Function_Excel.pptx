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0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0246" y="34975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400" dirty="0"/>
          </a:p>
        </p:txBody>
      </p:sp>
      <p:pic>
        <p:nvPicPr>
          <p:cNvPr id="5" name="Image 0" descr="/mnt/user-data/uploads/178159986567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578" y="905784"/>
            <a:ext cx="6112843" cy="40005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7B547BB-6EBF-863B-7208-E66E91FBEA99}"/>
              </a:ext>
            </a:extLst>
          </p:cNvPr>
          <p:cNvGrpSpPr/>
          <p:nvPr/>
        </p:nvGrpSpPr>
        <p:grpSpPr>
          <a:xfrm>
            <a:off x="457200" y="365760"/>
            <a:ext cx="457200" cy="457200"/>
            <a:chOff x="457200" y="365760"/>
            <a:chExt cx="457200" cy="457200"/>
          </a:xfrm>
        </p:grpSpPr>
        <p:sp>
          <p:nvSpPr>
            <p:cNvPr id="15" name="Shape 0">
              <a:extLst>
                <a:ext uri="{FF2B5EF4-FFF2-40B4-BE49-F238E27FC236}">
                  <a16:creationId xmlns:a16="http://schemas.microsoft.com/office/drawing/2014/main" id="{8D17F0DC-A02C-DD07-41B0-6A45276A4BF4}"/>
                </a:ext>
              </a:extLst>
            </p:cNvPr>
            <p:cNvSpPr/>
            <p:nvPr/>
          </p:nvSpPr>
          <p:spPr>
            <a:xfrm>
              <a:off x="457200" y="365760"/>
              <a:ext cx="457200" cy="4572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F4801D78-DF02-0522-9EDA-ACF7B47B98E5}"/>
                </a:ext>
              </a:extLst>
            </p:cNvPr>
            <p:cNvSpPr/>
            <p:nvPr/>
          </p:nvSpPr>
          <p:spPr>
            <a:xfrm>
              <a:off x="580644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ABE322B9-3FBF-62D0-2BA7-B5E3E3862138}"/>
                </a:ext>
              </a:extLst>
            </p:cNvPr>
            <p:cNvSpPr/>
            <p:nvPr/>
          </p:nvSpPr>
          <p:spPr>
            <a:xfrm>
              <a:off x="701802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3EEC6647-3B47-C001-5E13-C83804932BB9}"/>
                </a:ext>
              </a:extLst>
            </p:cNvPr>
            <p:cNvSpPr/>
            <p:nvPr/>
          </p:nvSpPr>
          <p:spPr>
            <a:xfrm>
              <a:off x="580644" y="610362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D88F19DC-C368-4DBC-AA5E-88D65B9A3020}"/>
                </a:ext>
              </a:extLst>
            </p:cNvPr>
            <p:cNvSpPr/>
            <p:nvPr/>
          </p:nvSpPr>
          <p:spPr>
            <a:xfrm>
              <a:off x="701802" y="610362"/>
              <a:ext cx="89154" cy="89154"/>
            </a:xfrm>
            <a:prstGeom prst="rect">
              <a:avLst/>
            </a:prstGeom>
            <a:solidFill>
              <a:srgbClr val="0EA5A4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" y="34975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COUNT &amp; AVERAGE Results</a:t>
            </a:r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AD6FDE-18EB-894B-4FFF-3FF7AEB82223}"/>
              </a:ext>
            </a:extLst>
          </p:cNvPr>
          <p:cNvGrpSpPr/>
          <p:nvPr/>
        </p:nvGrpSpPr>
        <p:grpSpPr>
          <a:xfrm>
            <a:off x="457200" y="365760"/>
            <a:ext cx="457200" cy="457200"/>
            <a:chOff x="457200" y="365760"/>
            <a:chExt cx="457200" cy="457200"/>
          </a:xfrm>
        </p:grpSpPr>
        <p:sp>
          <p:nvSpPr>
            <p:cNvPr id="7" name="Shape 0">
              <a:extLst>
                <a:ext uri="{FF2B5EF4-FFF2-40B4-BE49-F238E27FC236}">
                  <a16:creationId xmlns:a16="http://schemas.microsoft.com/office/drawing/2014/main" id="{77B1704B-7597-A6CA-3B06-54082E4BD4C7}"/>
                </a:ext>
              </a:extLst>
            </p:cNvPr>
            <p:cNvSpPr/>
            <p:nvPr/>
          </p:nvSpPr>
          <p:spPr>
            <a:xfrm>
              <a:off x="457200" y="365760"/>
              <a:ext cx="457200" cy="4572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1">
              <a:extLst>
                <a:ext uri="{FF2B5EF4-FFF2-40B4-BE49-F238E27FC236}">
                  <a16:creationId xmlns:a16="http://schemas.microsoft.com/office/drawing/2014/main" id="{FB491961-4BEF-F030-1202-DBE18083D84B}"/>
                </a:ext>
              </a:extLst>
            </p:cNvPr>
            <p:cNvSpPr/>
            <p:nvPr/>
          </p:nvSpPr>
          <p:spPr>
            <a:xfrm>
              <a:off x="580644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7BAE496A-B68F-57CA-1F7E-0B755411DBD0}"/>
                </a:ext>
              </a:extLst>
            </p:cNvPr>
            <p:cNvSpPr/>
            <p:nvPr/>
          </p:nvSpPr>
          <p:spPr>
            <a:xfrm>
              <a:off x="701802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675554A3-976E-5EFE-73D8-B8E1A5B21222}"/>
                </a:ext>
              </a:extLst>
            </p:cNvPr>
            <p:cNvSpPr/>
            <p:nvPr/>
          </p:nvSpPr>
          <p:spPr>
            <a:xfrm>
              <a:off x="580644" y="610362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769174BC-0618-93A4-D60C-B0061D80E4B8}"/>
                </a:ext>
              </a:extLst>
            </p:cNvPr>
            <p:cNvSpPr/>
            <p:nvPr/>
          </p:nvSpPr>
          <p:spPr>
            <a:xfrm>
              <a:off x="701802" y="610362"/>
              <a:ext cx="89154" cy="89154"/>
            </a:xfrm>
            <a:prstGeom prst="rect">
              <a:avLst/>
            </a:prstGeom>
            <a:solidFill>
              <a:srgbClr val="0EA5A4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Image 0" descr="/mnt/user-data/uploads/1781675885797_image.png">
            <a:extLst>
              <a:ext uri="{FF2B5EF4-FFF2-40B4-BE49-F238E27FC236}">
                <a16:creationId xmlns:a16="http://schemas.microsoft.com/office/drawing/2014/main" id="{D7084EAC-A59B-2FAA-28B3-CCDB1429E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410" y="822960"/>
            <a:ext cx="5515180" cy="41437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" y="3478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MAX, MIN &amp; Wildcard Pattern Matching</a:t>
            </a:r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881269-822C-A1E7-7D6F-F71C4F30C779}"/>
              </a:ext>
            </a:extLst>
          </p:cNvPr>
          <p:cNvGrpSpPr/>
          <p:nvPr/>
        </p:nvGrpSpPr>
        <p:grpSpPr>
          <a:xfrm>
            <a:off x="457200" y="365760"/>
            <a:ext cx="457200" cy="457200"/>
            <a:chOff x="457200" y="365760"/>
            <a:chExt cx="457200" cy="457200"/>
          </a:xfrm>
        </p:grpSpPr>
        <p:sp>
          <p:nvSpPr>
            <p:cNvPr id="7" name="Shape 0">
              <a:extLst>
                <a:ext uri="{FF2B5EF4-FFF2-40B4-BE49-F238E27FC236}">
                  <a16:creationId xmlns:a16="http://schemas.microsoft.com/office/drawing/2014/main" id="{CB6277E7-D2D4-AC67-A555-7B50681C7B00}"/>
                </a:ext>
              </a:extLst>
            </p:cNvPr>
            <p:cNvSpPr/>
            <p:nvPr/>
          </p:nvSpPr>
          <p:spPr>
            <a:xfrm>
              <a:off x="457200" y="365760"/>
              <a:ext cx="457200" cy="4572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1">
              <a:extLst>
                <a:ext uri="{FF2B5EF4-FFF2-40B4-BE49-F238E27FC236}">
                  <a16:creationId xmlns:a16="http://schemas.microsoft.com/office/drawing/2014/main" id="{4C8FE25D-3899-AB09-9699-FB4F8B639427}"/>
                </a:ext>
              </a:extLst>
            </p:cNvPr>
            <p:cNvSpPr/>
            <p:nvPr/>
          </p:nvSpPr>
          <p:spPr>
            <a:xfrm>
              <a:off x="580644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EB1E3512-CE46-5B96-ACA3-751B8B7C8AA1}"/>
                </a:ext>
              </a:extLst>
            </p:cNvPr>
            <p:cNvSpPr/>
            <p:nvPr/>
          </p:nvSpPr>
          <p:spPr>
            <a:xfrm>
              <a:off x="701802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60DD85F1-21C3-9165-34AA-E5E9B7B9AADD}"/>
                </a:ext>
              </a:extLst>
            </p:cNvPr>
            <p:cNvSpPr/>
            <p:nvPr/>
          </p:nvSpPr>
          <p:spPr>
            <a:xfrm>
              <a:off x="580644" y="610362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B3D7BD2B-9A87-0D5C-05A9-F4DDAEAB7F7E}"/>
                </a:ext>
              </a:extLst>
            </p:cNvPr>
            <p:cNvSpPr/>
            <p:nvPr/>
          </p:nvSpPr>
          <p:spPr>
            <a:xfrm>
              <a:off x="701802" y="610362"/>
              <a:ext cx="89154" cy="89154"/>
            </a:xfrm>
            <a:prstGeom prst="rect">
              <a:avLst/>
            </a:prstGeom>
            <a:solidFill>
              <a:srgbClr val="0EA5A4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3" name="Image 0" descr="/mnt/user-data/uploads/1781675906928_image.png">
            <a:extLst>
              <a:ext uri="{FF2B5EF4-FFF2-40B4-BE49-F238E27FC236}">
                <a16:creationId xmlns:a16="http://schemas.microsoft.com/office/drawing/2014/main" id="{BD09CCE6-D37C-0923-7B46-B594BD5AB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45" y="887847"/>
            <a:ext cx="6045110" cy="40279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1503EF-1F37-26E3-ADC8-40F99390257B}"/>
              </a:ext>
            </a:extLst>
          </p:cNvPr>
          <p:cNvGrpSpPr/>
          <p:nvPr/>
        </p:nvGrpSpPr>
        <p:grpSpPr>
          <a:xfrm>
            <a:off x="457200" y="365760"/>
            <a:ext cx="457200" cy="457200"/>
            <a:chOff x="457200" y="365760"/>
            <a:chExt cx="457200" cy="45720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F4B6AB2B-77F1-41AD-C31D-7CF56E647B18}"/>
                </a:ext>
              </a:extLst>
            </p:cNvPr>
            <p:cNvSpPr/>
            <p:nvPr/>
          </p:nvSpPr>
          <p:spPr>
            <a:xfrm>
              <a:off x="457200" y="365760"/>
              <a:ext cx="457200" cy="4572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C39A722D-BACE-D0F7-3B43-8FD3621893F5}"/>
                </a:ext>
              </a:extLst>
            </p:cNvPr>
            <p:cNvSpPr/>
            <p:nvPr/>
          </p:nvSpPr>
          <p:spPr>
            <a:xfrm>
              <a:off x="580644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EEF98FFB-FEC1-3F63-39F9-FF506DDB856A}"/>
                </a:ext>
              </a:extLst>
            </p:cNvPr>
            <p:cNvSpPr/>
            <p:nvPr/>
          </p:nvSpPr>
          <p:spPr>
            <a:xfrm>
              <a:off x="701802" y="489204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3ABC89EA-6CB1-AAF4-A891-D5CC7D992702}"/>
                </a:ext>
              </a:extLst>
            </p:cNvPr>
            <p:cNvSpPr/>
            <p:nvPr/>
          </p:nvSpPr>
          <p:spPr>
            <a:xfrm>
              <a:off x="580644" y="610362"/>
              <a:ext cx="89154" cy="89154"/>
            </a:xfrm>
            <a:prstGeom prst="rect">
              <a:avLst/>
            </a:prstGeom>
            <a:solidFill>
              <a:srgbClr val="CADCF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DAD6E0D-3A69-C561-994C-4A83A522013E}"/>
                </a:ext>
              </a:extLst>
            </p:cNvPr>
            <p:cNvSpPr/>
            <p:nvPr/>
          </p:nvSpPr>
          <p:spPr>
            <a:xfrm>
              <a:off x="701802" y="610362"/>
              <a:ext cx="89154" cy="89154"/>
            </a:xfrm>
            <a:prstGeom prst="rect">
              <a:avLst/>
            </a:prstGeom>
            <a:solidFill>
              <a:srgbClr val="0EA5A4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384B8FC6-73B1-0C81-7309-2E3C5871F151}"/>
              </a:ext>
            </a:extLst>
          </p:cNvPr>
          <p:cNvSpPr/>
          <p:nvPr/>
        </p:nvSpPr>
        <p:spPr>
          <a:xfrm>
            <a:off x="1037844" y="3478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Skills Practiced</a:t>
            </a:r>
            <a:endParaRPr lang="en-US" sz="2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11BA140-2F78-EBE6-7FD6-934ED9E1187A}"/>
              </a:ext>
            </a:extLst>
          </p:cNvPr>
          <p:cNvGrpSpPr/>
          <p:nvPr/>
        </p:nvGrpSpPr>
        <p:grpSpPr>
          <a:xfrm>
            <a:off x="457200" y="1112051"/>
            <a:ext cx="3977640" cy="1051560"/>
            <a:chOff x="457200" y="1280160"/>
            <a:chExt cx="3977640" cy="1051560"/>
          </a:xfrm>
        </p:grpSpPr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356DED3E-BABA-9A98-D36F-10B74B4F4E16}"/>
                </a:ext>
              </a:extLst>
            </p:cNvPr>
            <p:cNvSpPr/>
            <p:nvPr/>
          </p:nvSpPr>
          <p:spPr>
            <a:xfrm>
              <a:off x="457200" y="1280160"/>
              <a:ext cx="3977640" cy="1051560"/>
            </a:xfrm>
            <a:prstGeom prst="roundRect">
              <a:avLst>
                <a:gd name="adj" fmla="val 6957"/>
              </a:avLst>
            </a:prstGeom>
            <a:solidFill>
              <a:srgbClr val="EEF3FC"/>
            </a:solidFill>
            <a:ln/>
            <a:effectLst>
              <a:outerShdw blurRad="63500" dist="25400" dir="5400000" algn="bl" rotWithShape="0">
                <a:srgbClr val="1E2761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AA5E0876-B685-6908-C97A-DFF1A365396D}"/>
                </a:ext>
              </a:extLst>
            </p:cNvPr>
            <p:cNvSpPr/>
            <p:nvPr/>
          </p:nvSpPr>
          <p:spPr>
            <a:xfrm>
              <a:off x="621792" y="1371600"/>
              <a:ext cx="364845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kern="0" spc="150" dirty="0">
                  <a:solidFill>
                    <a:srgbClr val="0EA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</a:t>
              </a:r>
              <a:endParaRPr lang="en-US" sz="1000" dirty="0"/>
            </a:p>
            <a:p>
              <a:pPr>
                <a:lnSpc>
                  <a:spcPct val="105000"/>
                </a:lnSpc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SUMIF / SUMIFS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>
                  <a:solidFill>
                    <a:srgbClr val="334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&amp; multi-condition totals (AND/OR) across region, gender, department, product, status and quantity.</a:t>
              </a:r>
              <a:endParaRPr lang="en-US" sz="10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FF7551-33BD-8232-1759-5188EF69A463}"/>
              </a:ext>
            </a:extLst>
          </p:cNvPr>
          <p:cNvGrpSpPr/>
          <p:nvPr/>
        </p:nvGrpSpPr>
        <p:grpSpPr>
          <a:xfrm>
            <a:off x="4709160" y="1112051"/>
            <a:ext cx="3977640" cy="1051560"/>
            <a:chOff x="4709160" y="1280160"/>
            <a:chExt cx="3977640" cy="1051560"/>
          </a:xfrm>
        </p:grpSpPr>
        <p:sp>
          <p:nvSpPr>
            <p:cNvPr id="34" name="Shape 9">
              <a:extLst>
                <a:ext uri="{FF2B5EF4-FFF2-40B4-BE49-F238E27FC236}">
                  <a16:creationId xmlns:a16="http://schemas.microsoft.com/office/drawing/2014/main" id="{A138B6B1-0B45-B300-77E5-2409566F070C}"/>
                </a:ext>
              </a:extLst>
            </p:cNvPr>
            <p:cNvSpPr/>
            <p:nvPr/>
          </p:nvSpPr>
          <p:spPr>
            <a:xfrm>
              <a:off x="4709160" y="1280160"/>
              <a:ext cx="3977640" cy="1051560"/>
            </a:xfrm>
            <a:prstGeom prst="roundRect">
              <a:avLst>
                <a:gd name="adj" fmla="val 6957"/>
              </a:avLst>
            </a:prstGeom>
            <a:solidFill>
              <a:srgbClr val="EEF3FC"/>
            </a:solidFill>
            <a:ln/>
            <a:effectLst>
              <a:outerShdw blurRad="63500" dist="25400" dir="5400000" algn="bl" rotWithShape="0">
                <a:srgbClr val="1E2761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10">
              <a:extLst>
                <a:ext uri="{FF2B5EF4-FFF2-40B4-BE49-F238E27FC236}">
                  <a16:creationId xmlns:a16="http://schemas.microsoft.com/office/drawing/2014/main" id="{6D5C699F-DF28-901A-3651-A6FAF1055039}"/>
                </a:ext>
              </a:extLst>
            </p:cNvPr>
            <p:cNvSpPr/>
            <p:nvPr/>
          </p:nvSpPr>
          <p:spPr>
            <a:xfrm>
              <a:off x="4873752" y="1371600"/>
              <a:ext cx="364845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kern="0" spc="150" dirty="0">
                  <a:solidFill>
                    <a:srgbClr val="0EA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COUNT</a:t>
              </a:r>
              <a:endParaRPr lang="en-US" sz="1000" dirty="0"/>
            </a:p>
            <a:p>
              <a:pPr>
                <a:lnSpc>
                  <a:spcPct val="105000"/>
                </a:lnSpc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COUNTIF / COUNTIFS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>
                  <a:solidFill>
                    <a:srgbClr val="334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Counted orders using single, combined, range (“between”) and OR conditions.</a:t>
              </a:r>
              <a:endParaRPr lang="en-US" sz="10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372E1E-C16C-BE97-A7AA-8AE25F5A2F4E}"/>
              </a:ext>
            </a:extLst>
          </p:cNvPr>
          <p:cNvGrpSpPr/>
          <p:nvPr/>
        </p:nvGrpSpPr>
        <p:grpSpPr>
          <a:xfrm>
            <a:off x="457200" y="2355635"/>
            <a:ext cx="3977640" cy="1051560"/>
            <a:chOff x="457200" y="2523744"/>
            <a:chExt cx="3977640" cy="1051560"/>
          </a:xfrm>
        </p:grpSpPr>
        <p:sp>
          <p:nvSpPr>
            <p:cNvPr id="37" name="Shape 11">
              <a:extLst>
                <a:ext uri="{FF2B5EF4-FFF2-40B4-BE49-F238E27FC236}">
                  <a16:creationId xmlns:a16="http://schemas.microsoft.com/office/drawing/2014/main" id="{F2781467-FE2D-2870-B972-861FA3940010}"/>
                </a:ext>
              </a:extLst>
            </p:cNvPr>
            <p:cNvSpPr/>
            <p:nvPr/>
          </p:nvSpPr>
          <p:spPr>
            <a:xfrm>
              <a:off x="457200" y="2523744"/>
              <a:ext cx="3977640" cy="1051560"/>
            </a:xfrm>
            <a:prstGeom prst="roundRect">
              <a:avLst>
                <a:gd name="adj" fmla="val 6957"/>
              </a:avLst>
            </a:prstGeom>
            <a:solidFill>
              <a:srgbClr val="EEF3FC"/>
            </a:solidFill>
            <a:ln/>
            <a:effectLst>
              <a:outerShdw blurRad="63500" dist="25400" dir="5400000" algn="bl" rotWithShape="0">
                <a:srgbClr val="1E2761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12">
              <a:extLst>
                <a:ext uri="{FF2B5EF4-FFF2-40B4-BE49-F238E27FC236}">
                  <a16:creationId xmlns:a16="http://schemas.microsoft.com/office/drawing/2014/main" id="{961493A7-872B-AE07-2411-D6EB09CC855A}"/>
                </a:ext>
              </a:extLst>
            </p:cNvPr>
            <p:cNvSpPr/>
            <p:nvPr/>
          </p:nvSpPr>
          <p:spPr>
            <a:xfrm>
              <a:off x="621792" y="2615184"/>
              <a:ext cx="364845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kern="0" spc="150" dirty="0">
                  <a:solidFill>
                    <a:srgbClr val="0EA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AVERAGEIF / AVERAGEIFS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>
                  <a:solidFill>
                    <a:srgbClr val="334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 sales for single and multi-criteria filters across fields.</a:t>
              </a:r>
              <a:endParaRPr lang="en-US" sz="10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8E34CD-72A9-FE99-A38E-55017C046847}"/>
              </a:ext>
            </a:extLst>
          </p:cNvPr>
          <p:cNvGrpSpPr/>
          <p:nvPr/>
        </p:nvGrpSpPr>
        <p:grpSpPr>
          <a:xfrm>
            <a:off x="4709160" y="2355635"/>
            <a:ext cx="3977640" cy="1051560"/>
            <a:chOff x="4709160" y="2523744"/>
            <a:chExt cx="3977640" cy="1051560"/>
          </a:xfrm>
        </p:grpSpPr>
        <p:sp>
          <p:nvSpPr>
            <p:cNvPr id="40" name="Shape 13">
              <a:extLst>
                <a:ext uri="{FF2B5EF4-FFF2-40B4-BE49-F238E27FC236}">
                  <a16:creationId xmlns:a16="http://schemas.microsoft.com/office/drawing/2014/main" id="{AE603004-E379-E7B1-733E-03AC78DB5EBD}"/>
                </a:ext>
              </a:extLst>
            </p:cNvPr>
            <p:cNvSpPr/>
            <p:nvPr/>
          </p:nvSpPr>
          <p:spPr>
            <a:xfrm>
              <a:off x="4709160" y="2523744"/>
              <a:ext cx="3977640" cy="1051560"/>
            </a:xfrm>
            <a:prstGeom prst="roundRect">
              <a:avLst>
                <a:gd name="adj" fmla="val 6957"/>
              </a:avLst>
            </a:prstGeom>
            <a:solidFill>
              <a:srgbClr val="EEF3FC"/>
            </a:solidFill>
            <a:ln/>
            <a:effectLst>
              <a:outerShdw blurRad="63500" dist="25400" dir="5400000" algn="bl" rotWithShape="0">
                <a:srgbClr val="1E2761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14">
              <a:extLst>
                <a:ext uri="{FF2B5EF4-FFF2-40B4-BE49-F238E27FC236}">
                  <a16:creationId xmlns:a16="http://schemas.microsoft.com/office/drawing/2014/main" id="{11C51C74-2CC1-55C1-98D7-84E3608FB50C}"/>
                </a:ext>
              </a:extLst>
            </p:cNvPr>
            <p:cNvSpPr/>
            <p:nvPr/>
          </p:nvSpPr>
          <p:spPr>
            <a:xfrm>
              <a:off x="4873752" y="2615184"/>
              <a:ext cx="364845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kern="0" spc="150" dirty="0">
                  <a:solidFill>
                    <a:srgbClr val="0EA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MAX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MAXIFS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>
                  <a:solidFill>
                    <a:srgbClr val="334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Highest sales amount for each single-condition filter (region, gender, product, status, dept).</a:t>
              </a:r>
              <a:endParaRPr lang="en-US" sz="10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90BCDF1-33DD-CFEC-EC86-5417E814DBC7}"/>
              </a:ext>
            </a:extLst>
          </p:cNvPr>
          <p:cNvGrpSpPr/>
          <p:nvPr/>
        </p:nvGrpSpPr>
        <p:grpSpPr>
          <a:xfrm>
            <a:off x="457200" y="3599219"/>
            <a:ext cx="3977640" cy="1051560"/>
            <a:chOff x="457200" y="3767328"/>
            <a:chExt cx="3977640" cy="1051560"/>
          </a:xfrm>
        </p:grpSpPr>
        <p:sp>
          <p:nvSpPr>
            <p:cNvPr id="43" name="Shape 15">
              <a:extLst>
                <a:ext uri="{FF2B5EF4-FFF2-40B4-BE49-F238E27FC236}">
                  <a16:creationId xmlns:a16="http://schemas.microsoft.com/office/drawing/2014/main" id="{D3BF9490-99AA-A47E-F798-DC23B086667C}"/>
                </a:ext>
              </a:extLst>
            </p:cNvPr>
            <p:cNvSpPr/>
            <p:nvPr/>
          </p:nvSpPr>
          <p:spPr>
            <a:xfrm>
              <a:off x="457200" y="3767328"/>
              <a:ext cx="3977640" cy="1051560"/>
            </a:xfrm>
            <a:prstGeom prst="roundRect">
              <a:avLst>
                <a:gd name="adj" fmla="val 6957"/>
              </a:avLst>
            </a:prstGeom>
            <a:solidFill>
              <a:srgbClr val="EEF3FC"/>
            </a:solidFill>
            <a:ln/>
            <a:effectLst>
              <a:outerShdw blurRad="63500" dist="25400" dir="5400000" algn="bl" rotWithShape="0">
                <a:srgbClr val="1E2761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68324EF8-CF11-4FC0-37B5-B8895F630A97}"/>
                </a:ext>
              </a:extLst>
            </p:cNvPr>
            <p:cNvSpPr/>
            <p:nvPr/>
          </p:nvSpPr>
          <p:spPr>
            <a:xfrm>
              <a:off x="621792" y="3858768"/>
              <a:ext cx="364845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kern="0" spc="150" dirty="0">
                  <a:solidFill>
                    <a:srgbClr val="0EA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MIN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MINIFS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>
                  <a:solidFill>
                    <a:srgbClr val="334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Lowest sales amount for the same set of single-condition filters.</a:t>
              </a:r>
              <a:endParaRPr lang="en-US" sz="10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86E8E0-3492-3790-B6AF-032D9EE50B0A}"/>
              </a:ext>
            </a:extLst>
          </p:cNvPr>
          <p:cNvGrpSpPr/>
          <p:nvPr/>
        </p:nvGrpSpPr>
        <p:grpSpPr>
          <a:xfrm>
            <a:off x="4709160" y="3599219"/>
            <a:ext cx="3977640" cy="1051560"/>
            <a:chOff x="4709160" y="3767328"/>
            <a:chExt cx="3977640" cy="1051560"/>
          </a:xfrm>
        </p:grpSpPr>
        <p:sp>
          <p:nvSpPr>
            <p:cNvPr id="46" name="Shape 17">
              <a:extLst>
                <a:ext uri="{FF2B5EF4-FFF2-40B4-BE49-F238E27FC236}">
                  <a16:creationId xmlns:a16="http://schemas.microsoft.com/office/drawing/2014/main" id="{E9370D22-1FC3-C673-9349-80486E53DEC9}"/>
                </a:ext>
              </a:extLst>
            </p:cNvPr>
            <p:cNvSpPr/>
            <p:nvPr/>
          </p:nvSpPr>
          <p:spPr>
            <a:xfrm>
              <a:off x="4709160" y="3767328"/>
              <a:ext cx="3977640" cy="1051560"/>
            </a:xfrm>
            <a:prstGeom prst="roundRect">
              <a:avLst>
                <a:gd name="adj" fmla="val 6957"/>
              </a:avLst>
            </a:prstGeom>
            <a:solidFill>
              <a:srgbClr val="EEF3FC"/>
            </a:solidFill>
            <a:ln/>
            <a:effectLst>
              <a:outerShdw blurRad="63500" dist="25400" dir="5400000" algn="bl" rotWithShape="0">
                <a:srgbClr val="1E2761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18">
              <a:extLst>
                <a:ext uri="{FF2B5EF4-FFF2-40B4-BE49-F238E27FC236}">
                  <a16:creationId xmlns:a16="http://schemas.microsoft.com/office/drawing/2014/main" id="{32FD36A2-621A-F6FF-2401-EACD8762DA38}"/>
                </a:ext>
              </a:extLst>
            </p:cNvPr>
            <p:cNvSpPr/>
            <p:nvPr/>
          </p:nvSpPr>
          <p:spPr>
            <a:xfrm>
              <a:off x="4873752" y="3858768"/>
              <a:ext cx="3648456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00" b="1" kern="0" spc="150" dirty="0">
                  <a:solidFill>
                    <a:srgbClr val="0EA5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WILDCARD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SUMIF · COUNTIF · AVERAGEIF + “*”</a:t>
              </a:r>
              <a:endParaRPr lang="en-US" sz="1000" dirty="0"/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050" dirty="0">
                  <a:solidFill>
                    <a:srgbClr val="3341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Pattern matching - values starting or ending with a given letter.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50334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134</Words>
  <Application>Microsoft Office PowerPoint</Application>
  <PresentationFormat>On-screen Show (16:9)</PresentationFormat>
  <Paragraphs>25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Conditional Functions Practice</dc:title>
  <dc:subject>PptxGenJS Presentation</dc:subject>
  <dc:creator>Srabo</dc:creator>
  <cp:lastModifiedBy>Office</cp:lastModifiedBy>
  <cp:revision>5</cp:revision>
  <dcterms:created xsi:type="dcterms:W3CDTF">2026-06-16T09:30:37Z</dcterms:created>
  <dcterms:modified xsi:type="dcterms:W3CDTF">2026-06-17T06:10:28Z</dcterms:modified>
</cp:coreProperties>
</file>