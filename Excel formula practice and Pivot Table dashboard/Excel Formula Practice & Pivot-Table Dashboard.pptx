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2E46"/>
    <a:srgbClr val="820000"/>
    <a:srgbClr val="BC5610"/>
    <a:srgbClr val="A80000"/>
    <a:srgbClr val="FAF7F3"/>
    <a:srgbClr val="F8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29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5138" y="2853690"/>
            <a:ext cx="5943600" cy="59436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 </a:t>
            </a:r>
            <a:r>
              <a:rPr lang="en-US" b="1" kern="0" spc="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1898932"/>
            <a:ext cx="722376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4000" b="1" dirty="0"/>
              <a:t>What's hiding inside your spreadsheet that a formula could find in seconds?</a:t>
            </a:r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BC5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of real formula challenges - SUMIFS, XLOOKUP, COUNTIFS, MAXIFS, AVERAGEIFS, IFS and a full Pivot Table dashboard solved and documented step by step.</a:t>
            </a:r>
            <a:endParaRPr lang="en-US" dirty="0">
              <a:solidFill>
                <a:srgbClr val="BC5610"/>
              </a:solidFill>
            </a:endParaRPr>
          </a:p>
        </p:txBody>
      </p:sp>
      <p:pic>
        <p:nvPicPr>
          <p:cNvPr id="11" name="Image 0" descr="assets/mascot.png">
            <a:extLst>
              <a:ext uri="{FF2B5EF4-FFF2-40B4-BE49-F238E27FC236}">
                <a16:creationId xmlns:a16="http://schemas.microsoft.com/office/drawing/2014/main" id="{79E1A728-C12D-500A-81BF-16A18FAD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205" y="3268980"/>
            <a:ext cx="2782389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SUMIFS - Conditional Total by Region &amp; Threshold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FDEC6F-9126-6166-21AA-E83C2606AB97}"/>
              </a:ext>
            </a:extLst>
          </p:cNvPr>
          <p:cNvGrpSpPr/>
          <p:nvPr/>
        </p:nvGrpSpPr>
        <p:grpSpPr>
          <a:xfrm>
            <a:off x="1153316" y="941831"/>
            <a:ext cx="9885367" cy="5020429"/>
            <a:chOff x="1526345" y="941832"/>
            <a:chExt cx="9136263" cy="4379976"/>
          </a:xfrm>
        </p:grpSpPr>
        <p:sp>
          <p:nvSpPr>
            <p:cNvPr id="5" name="Shape 3"/>
            <p:cNvSpPr/>
            <p:nvPr/>
          </p:nvSpPr>
          <p:spPr>
            <a:xfrm>
              <a:off x="1526345" y="941832"/>
              <a:ext cx="9136263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6073" y="1051560"/>
              <a:ext cx="8916807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337645" y="6164735"/>
            <a:ext cx="9701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adds every Sales Amount where Region is “Dhaka” and the amount exceeds 50,000, returning a total of 1,000,149.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SUMIFS - Multi-Condition Sum with Date Range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D97D5-CFF0-185F-5991-8AE4B3D9012F}"/>
              </a:ext>
            </a:extLst>
          </p:cNvPr>
          <p:cNvGrpSpPr/>
          <p:nvPr/>
        </p:nvGrpSpPr>
        <p:grpSpPr>
          <a:xfrm>
            <a:off x="1272786" y="1068072"/>
            <a:ext cx="9643379" cy="5039090"/>
            <a:chOff x="1768333" y="941832"/>
            <a:chExt cx="8652286" cy="4379976"/>
          </a:xfrm>
        </p:grpSpPr>
        <p:sp>
          <p:nvSpPr>
            <p:cNvPr id="5" name="Shape 3"/>
            <p:cNvSpPr/>
            <p:nvPr/>
          </p:nvSpPr>
          <p:spPr>
            <a:xfrm>
              <a:off x="1768333" y="941832"/>
              <a:ext cx="8652286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8061" y="1051560"/>
              <a:ext cx="8432830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495044" y="6257661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layers four conditions - Product, Region, a Jan-Mar 2026 date window, and a 30,000 minimum to reach 592,601.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 - Pulling Customer Name &amp; Region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BEBA05-875F-F38E-4031-8744E185E1E1}"/>
              </a:ext>
            </a:extLst>
          </p:cNvPr>
          <p:cNvGrpSpPr/>
          <p:nvPr/>
        </p:nvGrpSpPr>
        <p:grpSpPr>
          <a:xfrm>
            <a:off x="1111483" y="988765"/>
            <a:ext cx="9969034" cy="4880470"/>
            <a:chOff x="1598126" y="941832"/>
            <a:chExt cx="8992700" cy="4197096"/>
          </a:xfrm>
        </p:grpSpPr>
        <p:sp>
          <p:nvSpPr>
            <p:cNvPr id="5" name="Shape 3"/>
            <p:cNvSpPr/>
            <p:nvPr/>
          </p:nvSpPr>
          <p:spPr>
            <a:xfrm>
              <a:off x="1598126" y="941832"/>
              <a:ext cx="8992700" cy="4197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7854" y="1051560"/>
              <a:ext cx="8773244" cy="397764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8764" y="6027993"/>
            <a:ext cx="10634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matches each Customer ID against the Customer Master sheet to fetch the Name and Region, showing “Customer Not Found” for any unmatched ID.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Table - Customer Master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281CBE-33E3-D64A-2655-508076614F92}"/>
              </a:ext>
            </a:extLst>
          </p:cNvPr>
          <p:cNvGrpSpPr/>
          <p:nvPr/>
        </p:nvGrpSpPr>
        <p:grpSpPr>
          <a:xfrm>
            <a:off x="4313681" y="1012091"/>
            <a:ext cx="3564637" cy="4833817"/>
            <a:chOff x="4720947" y="941832"/>
            <a:chExt cx="2747057" cy="4379976"/>
          </a:xfrm>
        </p:grpSpPr>
        <p:sp>
          <p:nvSpPr>
            <p:cNvPr id="5" name="Shape 3"/>
            <p:cNvSpPr/>
            <p:nvPr/>
          </p:nvSpPr>
          <p:spPr>
            <a:xfrm>
              <a:off x="4720947" y="941832"/>
              <a:ext cx="2747057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0675" y="1051560"/>
              <a:ext cx="2527601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8763" y="6035039"/>
            <a:ext cx="10634472" cy="59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 source:</a:t>
            </a: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table pairing every Customer ID with its Customer Name and Region, used by the XLOOKUP formulas on the Sales Data sheet.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 - Employee Lookup with Last-Match Logic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E2617C-B1D0-0A82-CA0D-9ADE044B878A}"/>
              </a:ext>
            </a:extLst>
          </p:cNvPr>
          <p:cNvGrpSpPr/>
          <p:nvPr/>
        </p:nvGrpSpPr>
        <p:grpSpPr>
          <a:xfrm>
            <a:off x="1222730" y="1006856"/>
            <a:ext cx="9746539" cy="4844288"/>
            <a:chOff x="1546170" y="941832"/>
            <a:chExt cx="9096613" cy="4197096"/>
          </a:xfrm>
        </p:grpSpPr>
        <p:sp>
          <p:nvSpPr>
            <p:cNvPr id="5" name="Shape 3"/>
            <p:cNvSpPr/>
            <p:nvPr/>
          </p:nvSpPr>
          <p:spPr>
            <a:xfrm>
              <a:off x="1546170" y="941832"/>
              <a:ext cx="9096613" cy="4197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5898" y="1051560"/>
              <a:ext cx="8877157" cy="397764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8763" y="5992721"/>
            <a:ext cx="10634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retrieves Name, Department, and Salary by Employee ID; the Salary lookup uses search mode -1 so a repeated ID returns its last occurrence, with “Invalid Employee ID” as the fallback.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16069" y="266309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Table - Employee Master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5CF393-358D-B512-5B3C-BFB7B1B51A6D}"/>
              </a:ext>
            </a:extLst>
          </p:cNvPr>
          <p:cNvGrpSpPr/>
          <p:nvPr/>
        </p:nvGrpSpPr>
        <p:grpSpPr>
          <a:xfrm>
            <a:off x="3254507" y="960491"/>
            <a:ext cx="5682986" cy="4805825"/>
            <a:chOff x="3806247" y="941832"/>
            <a:chExt cx="4576459" cy="4379976"/>
          </a:xfrm>
        </p:grpSpPr>
        <p:sp>
          <p:nvSpPr>
            <p:cNvPr id="5" name="Shape 3"/>
            <p:cNvSpPr/>
            <p:nvPr/>
          </p:nvSpPr>
          <p:spPr>
            <a:xfrm>
              <a:off x="3806247" y="941832"/>
              <a:ext cx="4576459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975" y="1051560"/>
              <a:ext cx="4357003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516069" y="6035040"/>
            <a:ext cx="91598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employee list: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including intentionally duplicated Employee IDs that the lookup formulas search against.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COUNTIFS - Attendance Count by Month &amp; Department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698A6D2-BCA2-8A58-5735-5492F509EE98}"/>
              </a:ext>
            </a:extLst>
          </p:cNvPr>
          <p:cNvGrpSpPr/>
          <p:nvPr/>
        </p:nvGrpSpPr>
        <p:grpSpPr>
          <a:xfrm>
            <a:off x="1029895" y="1069006"/>
            <a:ext cx="10129161" cy="5076413"/>
            <a:chOff x="1437999" y="941832"/>
            <a:chExt cx="9312954" cy="4379976"/>
          </a:xfrm>
        </p:grpSpPr>
        <p:sp>
          <p:nvSpPr>
            <p:cNvPr id="5" name="Shape 3"/>
            <p:cNvSpPr/>
            <p:nvPr/>
          </p:nvSpPr>
          <p:spPr>
            <a:xfrm>
              <a:off x="1437999" y="941832"/>
              <a:ext cx="9312954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7727" y="1051560"/>
              <a:ext cx="9093498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211580" y="6268861"/>
            <a:ext cx="10634472" cy="43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COUNTIFS counts rows where Status is “Present,” Department is “IT,” and the Date falls within June 2026, giving a result of 19.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MAXIFS - Highest Sale Under Two Conditions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280523-B68D-8B68-E7A5-9871F2DCE987}"/>
              </a:ext>
            </a:extLst>
          </p:cNvPr>
          <p:cNvGrpSpPr/>
          <p:nvPr/>
        </p:nvGrpSpPr>
        <p:grpSpPr>
          <a:xfrm>
            <a:off x="1895199" y="941832"/>
            <a:ext cx="8398553" cy="5138928"/>
            <a:chOff x="2359643" y="941832"/>
            <a:chExt cx="7469666" cy="4379976"/>
          </a:xfrm>
        </p:grpSpPr>
        <p:sp>
          <p:nvSpPr>
            <p:cNvPr id="5" name="Shape 3"/>
            <p:cNvSpPr/>
            <p:nvPr/>
          </p:nvSpPr>
          <p:spPr>
            <a:xfrm>
              <a:off x="2359643" y="941832"/>
              <a:ext cx="7469666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9371" y="1051560"/>
              <a:ext cx="7250210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2232815" y="6209501"/>
            <a:ext cx="88052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MAXIFS scans all Laptop sales in the Dhaka region and returns the single highest amount: 127,674.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AVERAGEIFS — Average Salary by Gender, Dept &amp; Tenure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897DB1-78F9-796C-A6FB-D3F1B7CA10A6}"/>
              </a:ext>
            </a:extLst>
          </p:cNvPr>
          <p:cNvGrpSpPr/>
          <p:nvPr/>
        </p:nvGrpSpPr>
        <p:grpSpPr>
          <a:xfrm>
            <a:off x="1157520" y="941832"/>
            <a:ext cx="9876960" cy="5039090"/>
            <a:chOff x="1403750" y="941832"/>
            <a:chExt cx="9381452" cy="4379976"/>
          </a:xfrm>
        </p:grpSpPr>
        <p:sp>
          <p:nvSpPr>
            <p:cNvPr id="5" name="Shape 3"/>
            <p:cNvSpPr/>
            <p:nvPr/>
          </p:nvSpPr>
          <p:spPr>
            <a:xfrm>
              <a:off x="1403750" y="941832"/>
              <a:ext cx="9381452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3478" y="1051560"/>
              <a:ext cx="9161996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932688" y="6159413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AVERAGEIFS averages Salary for Female employees in the HR Department with more than 3 years of Experience, landing on 65,776.46.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+ OR - Flagging High-Value Orders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6B300F-CE19-50CA-13B1-60DBD0184B14}"/>
              </a:ext>
            </a:extLst>
          </p:cNvPr>
          <p:cNvGrpSpPr/>
          <p:nvPr/>
        </p:nvGrpSpPr>
        <p:grpSpPr>
          <a:xfrm>
            <a:off x="2270717" y="941831"/>
            <a:ext cx="7650565" cy="4992437"/>
            <a:chOff x="2650431" y="941832"/>
            <a:chExt cx="6888091" cy="4379976"/>
          </a:xfrm>
        </p:grpSpPr>
        <p:sp>
          <p:nvSpPr>
            <p:cNvPr id="5" name="Shape 3"/>
            <p:cNvSpPr/>
            <p:nvPr/>
          </p:nvSpPr>
          <p:spPr>
            <a:xfrm>
              <a:off x="2650431" y="941832"/>
              <a:ext cx="6888091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0159" y="1051560"/>
              <a:ext cx="6668635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7240" y="6080758"/>
            <a:ext cx="10634472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IF/OR marks an order “High Value Order” when Units Sold exceed 50 or Total Sales exceed 1,000,000, otherwise labels it “Normal Order.”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IFS - Tiered Delivery Priority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32839B-2A82-757D-26B2-B0E765AC3AD6}"/>
              </a:ext>
            </a:extLst>
          </p:cNvPr>
          <p:cNvGrpSpPr/>
          <p:nvPr/>
        </p:nvGrpSpPr>
        <p:grpSpPr>
          <a:xfrm>
            <a:off x="2363729" y="941832"/>
            <a:ext cx="7464541" cy="5095074"/>
            <a:chOff x="2761810" y="941832"/>
            <a:chExt cx="6665332" cy="4379976"/>
          </a:xfrm>
        </p:grpSpPr>
        <p:sp>
          <p:nvSpPr>
            <p:cNvPr id="5" name="Shape 3"/>
            <p:cNvSpPr/>
            <p:nvPr/>
          </p:nvSpPr>
          <p:spPr>
            <a:xfrm>
              <a:off x="2761810" y="941832"/>
              <a:ext cx="6665332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1538" y="1051560"/>
              <a:ext cx="6445876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7240" y="6176864"/>
            <a:ext cx="10634472" cy="40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checks Delivery Days in order - ≤ 2 is “Urgent,” ≤ 5 is “Normal,” otherwise “No Urgency” to classify every order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Brief - VM-Wise Pivot Dashboard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761866-6ACB-9804-6A0A-2DA76F0DD0A0}"/>
              </a:ext>
            </a:extLst>
          </p:cNvPr>
          <p:cNvGrpSpPr/>
          <p:nvPr/>
        </p:nvGrpSpPr>
        <p:grpSpPr>
          <a:xfrm>
            <a:off x="1259980" y="999865"/>
            <a:ext cx="9672040" cy="4858269"/>
            <a:chOff x="1391651" y="941832"/>
            <a:chExt cx="9405651" cy="4379976"/>
          </a:xfrm>
        </p:grpSpPr>
        <p:sp>
          <p:nvSpPr>
            <p:cNvPr id="5" name="Shape 3"/>
            <p:cNvSpPr/>
            <p:nvPr/>
          </p:nvSpPr>
          <p:spPr>
            <a:xfrm>
              <a:off x="1391651" y="941832"/>
              <a:ext cx="9405651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1379" y="1051560"/>
              <a:ext cx="9186195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122472" y="6086358"/>
            <a:ext cx="10154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uild a VM-wise breakdown of RT Retails covering Live Demo counts, outlet quantities, model availability, and the top-performing VM and model - delivered as an interactive Pivot Table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Dashboard - Detail View by VM &amp; Outlet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DBED6E-5F3F-1A1D-AB07-0A18DF0BD801}"/>
              </a:ext>
            </a:extLst>
          </p:cNvPr>
          <p:cNvGrpSpPr/>
          <p:nvPr/>
        </p:nvGrpSpPr>
        <p:grpSpPr>
          <a:xfrm>
            <a:off x="1251911" y="1099126"/>
            <a:ext cx="9688178" cy="4945784"/>
            <a:chOff x="1555210" y="941832"/>
            <a:chExt cx="9078531" cy="4197096"/>
          </a:xfrm>
        </p:grpSpPr>
        <p:sp>
          <p:nvSpPr>
            <p:cNvPr id="5" name="Shape 3"/>
            <p:cNvSpPr/>
            <p:nvPr/>
          </p:nvSpPr>
          <p:spPr>
            <a:xfrm>
              <a:off x="1555210" y="941832"/>
              <a:ext cx="9078531" cy="4197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4938" y="1051560"/>
              <a:ext cx="8859075" cy="397764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8764" y="6207802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/>
              <a:t>The Pivot Table lists every RT outlet and Model under each VM along with its Sum of Qty, giving a full row-level breakdown before any slicer is applied.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Dashboard - Filtered by Retail Outlet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C9C10E-F4C7-3AA2-DDB2-B79A7FB86FA8}"/>
              </a:ext>
            </a:extLst>
          </p:cNvPr>
          <p:cNvGrpSpPr/>
          <p:nvPr/>
        </p:nvGrpSpPr>
        <p:grpSpPr>
          <a:xfrm>
            <a:off x="388002" y="1366188"/>
            <a:ext cx="11374949" cy="4125624"/>
            <a:chOff x="663811" y="941832"/>
            <a:chExt cx="10861330" cy="3511296"/>
          </a:xfrm>
        </p:grpSpPr>
        <p:sp>
          <p:nvSpPr>
            <p:cNvPr id="5" name="Shape 3"/>
            <p:cNvSpPr/>
            <p:nvPr/>
          </p:nvSpPr>
          <p:spPr>
            <a:xfrm>
              <a:off x="663811" y="941832"/>
              <a:ext cx="10861330" cy="3511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539" y="1051560"/>
              <a:ext cx="10641874" cy="329184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932688" y="56464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“J &amp; J Communication” in the RT Name slicer isolates its 3-unit total under Zihad Hasan, with unrelated outlets grayed out.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5740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Dashboard - Detail View for Lokkhon Chowdhury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B412FF-70A0-1D5E-343F-B37C818B6A73}"/>
              </a:ext>
            </a:extLst>
          </p:cNvPr>
          <p:cNvGrpSpPr/>
          <p:nvPr/>
        </p:nvGrpSpPr>
        <p:grpSpPr>
          <a:xfrm>
            <a:off x="981963" y="1156436"/>
            <a:ext cx="10225025" cy="4379976"/>
            <a:chOff x="981963" y="941832"/>
            <a:chExt cx="10225025" cy="4379976"/>
          </a:xfrm>
        </p:grpSpPr>
        <p:sp>
          <p:nvSpPr>
            <p:cNvPr id="5" name="Shape 3"/>
            <p:cNvSpPr/>
            <p:nvPr/>
          </p:nvSpPr>
          <p:spPr>
            <a:xfrm>
              <a:off x="981963" y="941832"/>
              <a:ext cx="10225025" cy="43799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CE2D0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/mnt/user-data/uploads/1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1691" y="1051560"/>
              <a:ext cx="10005569" cy="416052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777240" y="5916168"/>
            <a:ext cx="10634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4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VM “Lokkhon Chowdhury” breaks down quantity by every retail outlet and model, the same interactive pattern applied per VM.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611</Words>
  <Application>Microsoft Office PowerPoint</Application>
  <PresentationFormat>Widescreen</PresentationFormat>
  <Paragraphs>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Formula Challenge - Q&amp;A Walkthrough</dc:title>
  <dc:subject>PptxGenJS Presentation</dc:subject>
  <dc:creator>Excel Practice</dc:creator>
  <cp:lastModifiedBy>Office</cp:lastModifiedBy>
  <cp:revision>14</cp:revision>
  <dcterms:created xsi:type="dcterms:W3CDTF">2026-07-09T06:33:59Z</dcterms:created>
  <dcterms:modified xsi:type="dcterms:W3CDTF">2026-07-09T09:09:06Z</dcterms:modified>
</cp:coreProperties>
</file>